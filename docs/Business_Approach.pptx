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02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6F1F6679-E259-3471-6892-74FC2CF892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49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l-NL" sz="1000">
                <a:solidFill>
                  <a:srgbClr val="999999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AD49F68-E210-5A75-0521-09061C5DB56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49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l-NL" sz="1000">
                <a:solidFill>
                  <a:srgbClr val="999999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5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7104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TALK-TO-MY-DATA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6080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Approach — Natural Language BI for The Gadget Store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818730"/>
            <a:ext cx="502920" cy="36576"/>
          </a:xfrm>
          <a:prstGeom prst="rect">
            <a:avLst/>
          </a:prstGeom>
          <a:solidFill>
            <a:srgbClr val="FF4F6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6"/>
          <p:cNvSpPr txBox="1"/>
          <p:nvPr/>
        </p:nvSpPr>
        <p:spPr>
          <a:xfrm>
            <a:off x="624713" y="3298942"/>
            <a:ext cx="931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Case #1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GADGET STORE HAS A DATA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stores. 13+ countries. Millions of transactions. Almost none of it self-serve.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6" name="Image 0" descr="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00" y="2534260"/>
            <a:ext cx="463601" cy="4636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Data-rich, insight-poor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40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sales data exists, but only a handful of analysts know how to query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60520" y="21031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4480560" y="246888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1" name="Image 1" descr="icons/sync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940" y="253426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decision loops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840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waits in a queue for a specialist to write SQL and send results back.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80960" y="210312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1"/>
          <p:cNvSpPr/>
          <p:nvPr/>
        </p:nvSpPr>
        <p:spPr>
          <a:xfrm>
            <a:off x="8001000" y="246888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6" name="Image 2" descr="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80" y="2534260"/>
            <a:ext cx="463601" cy="46360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0100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opportunities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3840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slow-moving inventory, and customer trends stay hidden until it's too late.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PATHS FORWARD — WE EVALUATED ALL THREE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12173B"/>
          </a:solidFill>
          <a:ln w="31750">
            <a:solidFill>
              <a:srgbClr val="FF4F6D"/>
            </a:solidFill>
            <a:prstDash val="solid"/>
          </a:ln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4F6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 txBox="1"/>
          <p:nvPr/>
        </p:nvSpPr>
        <p:spPr>
          <a:xfrm>
            <a:off x="91440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7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62" y="2256922"/>
            <a:ext cx="442204" cy="4422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880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Talk-to-my-Data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931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chat interface over sales, customer &amp; product 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33672" y="141732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9"/>
          <p:cNvSpPr/>
          <p:nvPr/>
        </p:nvSpPr>
        <p:spPr>
          <a:xfrm>
            <a:off x="4507992" y="1737360"/>
            <a:ext cx="566928" cy="566928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3" name="Image 1" descr="icons/chartli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354" y="1799722"/>
            <a:ext cx="442204" cy="4422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07992" y="2423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07992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Recommendations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07992" y="34747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product recommendations for cross-sell &amp; substitutes.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27264" y="141732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4"/>
          <p:cNvSpPr/>
          <p:nvPr/>
        </p:nvSpPr>
        <p:spPr>
          <a:xfrm>
            <a:off x="8101584" y="1737360"/>
            <a:ext cx="566928" cy="566928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9" name="Image 2" descr="icons/stor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946" y="1799722"/>
            <a:ext cx="442204" cy="4422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01584" y="2423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01584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Sell-out / Sell-in Forecasting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101584" y="34747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and inventory allocation across the warehouse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TALK-TO-MY-DATA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4" name="Image 0" descr="icons/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1716329"/>
            <a:ext cx="499262" cy="4992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819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Broadest business impact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20116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sales, customers, AND inventory — not siloed to one function like recommendations or forecasting alone.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64592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8" name="Image 1" descr="icons/rock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329" y="1716329"/>
            <a:ext cx="499262" cy="4992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5819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path to visible value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20116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can ask a question and see a real answer in the first demo — immediate, tangible proof of concept.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2" name="Image 2" descr="icons/ro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9" y="3590849"/>
            <a:ext cx="499262" cy="4992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4564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Highest-demand skill set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38862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GenAI + natural language interfaces are the most transferable, in-demand capability we can build right now.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352044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6" name="Image 3" descr="icons/handshak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329" y="3590849"/>
            <a:ext cx="499262" cy="49926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4564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client story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38862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data anything" is the easiest pitch to explain, demo live, and get excited about in five minutes.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80644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1217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4"/>
          <p:cNvSpPr txBox="1"/>
          <p:nvPr/>
        </p:nvSpPr>
        <p:spPr>
          <a:xfrm>
            <a:off x="914400" y="5806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technical foundation here also powers everything we'd need for Cases 2 and 3 later.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VALUE WE'RE TARGETING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1600200" y="192024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5" name="Image 0" descr="icons/rock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80" y="1985620"/>
            <a:ext cx="463601" cy="46360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seconds, not analyst queue days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1" name="Image 1" descr="icons/doll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80" y="198562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8404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 products &amp; prioritize campaigns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5544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Shape 12"/>
          <p:cNvSpPr/>
          <p:nvPr/>
        </p:nvSpPr>
        <p:spPr>
          <a:xfrm>
            <a:off x="7086600" y="192024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7" name="Image 2" descr="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80" y="1985620"/>
            <a:ext cx="463601" cy="46360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8404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slow-moving inventory before it's a loss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869680" y="15544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Shape 17"/>
          <p:cNvSpPr/>
          <p:nvPr/>
        </p:nvSpPr>
        <p:spPr>
          <a:xfrm>
            <a:off x="9829800" y="1920240"/>
            <a:ext cx="594360" cy="59436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3" name="Image 3" descr="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180" y="1985620"/>
            <a:ext cx="463601" cy="46360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525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0525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38404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lifecycle for loyalty design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ONE QUESTION, FIVE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12173B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4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60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926080" y="228600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12173B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8" name="Image 1" descr="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5603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1752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Schema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5212080" y="228600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2" name="Image 2" descr="icons/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5603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0352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6949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7498080" y="228600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12173B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16" name="Image 3" descr="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5603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Runs It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9235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3"/>
          <p:cNvSpPr/>
          <p:nvPr/>
        </p:nvSpPr>
        <p:spPr>
          <a:xfrm>
            <a:off x="9784080" y="2286000"/>
            <a:ext cx="1737360" cy="1737360"/>
          </a:xfrm>
          <a:prstGeom prst="roundRect">
            <a:avLst>
              <a:gd name="adj" fmla="val 7895"/>
            </a:avLst>
          </a:prstGeom>
          <a:solidFill>
            <a:srgbClr val="12173B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20" name="Image 4" descr="icons/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256032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87552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Chart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640080" y="4617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safety nets throughout: if SQL fails, the AI retries automatically. If the question is ambiguous, it asks — never guesses.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0080" y="539496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17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always.  </a:t>
            </a: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can query data — it can never modify or delete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10332720" cy="0"/>
          </a:xfrm>
          <a:prstGeom prst="line">
            <a:avLst/>
          </a:prstGeom>
          <a:noFill/>
          <a:ln w="25400">
            <a:solidFill>
              <a:srgbClr val="C7CFE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95528" y="2624328"/>
            <a:ext cx="237744" cy="237744"/>
          </a:xfrm>
          <a:prstGeom prst="ellipse">
            <a:avLst/>
          </a:prstGeom>
          <a:solidFill>
            <a:srgbClr val="1217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 txBox="1"/>
          <p:nvPr/>
        </p:nvSpPr>
        <p:spPr>
          <a:xfrm>
            <a:off x="182880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62072" y="2624328"/>
            <a:ext cx="237744" cy="237744"/>
          </a:xfrm>
          <a:prstGeom prst="ellipse">
            <a:avLst/>
          </a:prstGeom>
          <a:solidFill>
            <a:srgbClr val="FF4F6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 txBox="1"/>
          <p:nvPr/>
        </p:nvSpPr>
        <p:spPr>
          <a:xfrm>
            <a:off x="2249424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Approach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28616" y="26243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FE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 txBox="1"/>
          <p:nvPr/>
        </p:nvSpPr>
        <p:spPr>
          <a:xfrm>
            <a:off x="4315968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Development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26243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FE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 txBox="1"/>
          <p:nvPr/>
        </p:nvSpPr>
        <p:spPr>
          <a:xfrm>
            <a:off x="6382512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6243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FE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 txBox="1"/>
          <p:nvPr/>
        </p:nvSpPr>
        <p:spPr>
          <a:xfrm>
            <a:off x="8449056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128248" y="26243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FE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 txBox="1"/>
          <p:nvPr/>
        </p:nvSpPr>
        <p:spPr>
          <a:xfrm>
            <a:off x="1051560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80644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1217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 txBox="1"/>
          <p:nvPr/>
        </p:nvSpPr>
        <p:spPr>
          <a:xfrm>
            <a:off x="914400" y="5806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here.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exploratory data analysis and a working baseline on real TGS-style sales data.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FF4F6D"/>
          </a:solidFill>
          <a:ln/>
          <a:effectLst>
            <a:outerShdw blurRad="101600" dist="38100" dir="5400000" algn="bl" rotWithShape="0">
              <a:srgbClr val="12173B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pic>
        <p:nvPicPr>
          <p:cNvPr id="4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756209"/>
            <a:ext cx="499262" cy="4992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Talk-to-my-Data turns The Gadget Store's biggest untapped asset — its own data — into an answer, in plain English, in seconds.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502920" cy="36576"/>
          </a:xfrm>
          <a:prstGeom prst="rect">
            <a:avLst/>
          </a:prstGeom>
          <a:solidFill>
            <a:srgbClr val="FF4F6D"/>
          </a:solidFill>
          <a:ln/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466</Words>
  <Application>Microsoft Office PowerPoint</Application>
  <PresentationFormat>Breedbeeld</PresentationFormat>
  <Paragraphs>81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Cambria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Bafadhl, Raed</cp:lastModifiedBy>
  <cp:revision>2</cp:revision>
  <dcterms:created xsi:type="dcterms:W3CDTF">2026-09-14T17:29:25Z</dcterms:created>
  <dcterms:modified xsi:type="dcterms:W3CDTF">2026-09-17T22:10:32Z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cb8965-26fb-4a97-9513-50d88672d46c_Enabled">
    <vt:lpwstr>true</vt:lpwstr>
  </property>
  <property fmtid="{D5CDD505-2E9C-101B-9397-08002B2CF9AE}" pid="3" name="MSIP_Label_fecb8965-26fb-4a97-9513-50d88672d46c_SetDate">
    <vt:lpwstr>2026-09-17T18:53:19Z</vt:lpwstr>
  </property>
  <property fmtid="{D5CDD505-2E9C-101B-9397-08002B2CF9AE}" pid="4" name="MSIP_Label_fecb8965-26fb-4a97-9513-50d88672d46c_Method">
    <vt:lpwstr>Standard</vt:lpwstr>
  </property>
  <property fmtid="{D5CDD505-2E9C-101B-9397-08002B2CF9AE}" pid="5" name="MSIP_Label_fecb8965-26fb-4a97-9513-50d88672d46c_Name">
    <vt:lpwstr>fecb8965-26fb-4a97-9513-50d88672d46c</vt:lpwstr>
  </property>
  <property fmtid="{D5CDD505-2E9C-101B-9397-08002B2CF9AE}" pid="6" name="MSIP_Label_fecb8965-26fb-4a97-9513-50d88672d46c_SiteId">
    <vt:lpwstr>64458159-0d9a-4d84-966f-1a13c0ac7a34</vt:lpwstr>
  </property>
  <property fmtid="{D5CDD505-2E9C-101B-9397-08002B2CF9AE}" pid="7" name="MSIP_Label_fecb8965-26fb-4a97-9513-50d88672d46c_ActionId">
    <vt:lpwstr>9705831e-2014-4935-b97c-180e8bfa4c18</vt:lpwstr>
  </property>
  <property fmtid="{D5CDD505-2E9C-101B-9397-08002B2CF9AE}" pid="8" name="MSIP_Label_fecb8965-26fb-4a97-9513-50d88672d46c_ContentBits">
    <vt:lpwstr>3</vt:lpwstr>
  </property>
  <property fmtid="{D5CDD505-2E9C-101B-9397-08002B2CF9AE}" pid="9" name="MSIP_Label_fecb8965-26fb-4a97-9513-50d88672d46c_Tag">
    <vt:lpwstr>10, 3, 0, 1</vt:lpwstr>
  </property>
  <property fmtid="{D5CDD505-2E9C-101B-9397-08002B2CF9AE}" pid="10" name="ClassificationContentMarkingFooterLocations">
    <vt:lpwstr>Office Theme:5</vt:lpwstr>
  </property>
  <property fmtid="{D5CDD505-2E9C-101B-9397-08002B2CF9AE}" pid="11" name="ClassificationContentMarkingFooterText">
    <vt:lpwstr>Intern</vt:lpwstr>
  </property>
  <property fmtid="{D5CDD505-2E9C-101B-9397-08002B2CF9AE}" pid="12" name="ClassificationContentMarkingHeaderLocations">
    <vt:lpwstr>Office Theme:4</vt:lpwstr>
  </property>
  <property fmtid="{D5CDD505-2E9C-101B-9397-08002B2CF9AE}" pid="13" name="ClassificationContentMarkingHeaderText">
    <vt:lpwstr>Intern</vt:lpwstr>
  </property>
</Properties>
</file>